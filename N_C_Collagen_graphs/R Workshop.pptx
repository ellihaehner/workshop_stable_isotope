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2" r:id="rId18"/>
    <p:sldId id="272" r:id="rId19"/>
    <p:sldId id="273" r:id="rId20"/>
    <p:sldId id="274" r:id="rId21"/>
    <p:sldId id="275" r:id="rId22"/>
    <p:sldId id="291" r:id="rId23"/>
    <p:sldId id="276" r:id="rId24"/>
    <p:sldId id="299" r:id="rId25"/>
    <p:sldId id="277" r:id="rId26"/>
    <p:sldId id="278" r:id="rId27"/>
    <p:sldId id="279" r:id="rId28"/>
    <p:sldId id="296" r:id="rId29"/>
    <p:sldId id="298" r:id="rId30"/>
    <p:sldId id="297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4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3C6"/>
    <a:srgbClr val="888888"/>
    <a:srgbClr val="F0F0F0"/>
    <a:srgbClr val="E7E8D1"/>
    <a:srgbClr val="B85042"/>
    <a:srgbClr val="F5F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80" autoAdjust="0"/>
    <p:restoredTop sz="96247" autoAdjust="0"/>
  </p:normalViewPr>
  <p:slideViewPr>
    <p:cSldViewPr snapToGrid="0" snapToObjects="1">
      <p:cViewPr varScale="1">
        <p:scale>
          <a:sx n="135" d="100"/>
          <a:sy n="135" d="100"/>
        </p:scale>
        <p:origin x="10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09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it like a car: R is the engine — it does all the work. RStudio is the dashboard. You'll never need to open plain R directly; always use RStudio.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RStudio interface has 4 panes:
1. Source Editor (top-left): Write and save R scripts.
2. Console (bottom-left): Where R runs code. Type directly or run from Source.
3. Environment (top-right): Shows loaded data and variables.
4. Files/Plots (bottom-right): Browse files, view plots, access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live: File → New Project → New Directory → New Project. Name it something like 'r-workshop'. Short path without spaces recommended. Select 'Open in new session' if another project is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comes with basics, but packages add specialized tools. Install once, load every session.  Installing can take a few minutes and sometimes restarting R Studio is necessary (R /R Studio will tell you).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Type library(ggplot2) and press Enter. No error = success. Show what happens when loading a package that isn't installed — the 'no package called X' error. Most common beginner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our environment is set up, let's get some real data into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European Excel uses semicolons as separators and commas for decimals. Fix decimals with Find &amp; Replace in Excel, or handle in R with sep and dec arguments. Delete empty rows at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both methods. Code (Option 1) is better for reproducibility. GUI (Option 2) is more intuitive. sep=";" is needed for European CSVs.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inspect after loading!
- head(df): Quick peek at first rows.
- str(df): Check types — numbers should be 'num', not 'chr'.
- summary(df): Spot outliers.
- View(df): Note capital V!, other with small letters, otherwise you will get error function not found</a:t>
            </a:r>
          </a:p>
          <a:p>
            <a:r>
              <a:rPr lang="en-US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values cause warnings. If str(df) shows 'chr' where you expect 'num', data has text where numbers should be. Use as.numeric() to convert. df$column_name accesses a specific column — $ means 'inside this data frame, get this column'.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directory = where R looks for files and saves output. With projects, it's automatic. getwd() shows current location. For saving: write.csv() is built-in; write_xlsx() needs the writexl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2BDB-8849-AA77-93B2-238B49EF2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DEFC1-CD89-B98D-01EE-A1965A2E7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F3FA3-C6F1-8BED-EDA7-14EFB6172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directory = where R looks for files and saves output. With projects, it's automatic. getwd() shows current location. For saving: write.csv() is built-in; write_xlsx() needs the writexl package.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61DFB-E243-7A7A-1CF9-A76349B53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117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questions here. These four concepts are the building blocks: variables store data, functions do things, data frames are tables, and comments explain your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visualize your data with ggplot2 — R's most popular plotting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ggplot2 like building in layers. You start with data, map variables to visual properties (aesthetics), then choose a geometry (shape). The '+' operator adds layers. This is the 'grammar of graphics' — a consistent, logical way to build any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line of code. data= says which dataset to use. aes() maps columns to visual properties — x-axis, y-axis, color. geom_point() says 'draw points'. The + connects layers. Show how adding color=Species automatically creates a legend.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02986-6476-D79F-F0CE-3E3306EC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1F62D-2B39-529D-6C29-209534E28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3A23B-2F62-5C11-0E84-9CF70C93F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line of code. data= says which dataset to use. aes() maps columns to visual properties — x-axis, y-axis, color. geom_point() says 'draw points'. The + connects layers. Show how adding color=Species automatically creates a legend. Run “p1” at the end or type into console, otherwise R is creating the plot, but you won’t see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DC4B-571C-85E6-BC2B-B5572BACC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203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theme_bw() is a great starting point — clean and professional. labs() adds titles and axis labels. The expression() function creates proper delta notation with superscripts for isotope axes.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5CF97-F8C4-2705-FA52-EC2A4AC5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71D89-8837-BA27-67FA-4D27EE2A6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1AEC0-0D3E-7C29-B501-99FDFA790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</a:t>
            </a:r>
            <a:r>
              <a:rPr lang="en-US" dirty="0" err="1"/>
              <a:t>display.brewer.all</a:t>
            </a:r>
            <a:r>
              <a:rPr lang="en-US" dirty="0"/>
              <a:t>() in console, to see all pre-defined </a:t>
            </a:r>
            <a:r>
              <a:rPr lang="en-US" dirty="0" err="1"/>
              <a:t>colour</a:t>
            </a:r>
            <a:r>
              <a:rPr lang="en-US" dirty="0"/>
              <a:t> palettes. Be aware that the palettes have different numbers of available </a:t>
            </a:r>
            <a:r>
              <a:rPr lang="en-US" dirty="0" err="1"/>
              <a:t>colours</a:t>
            </a:r>
            <a:r>
              <a:rPr lang="en-US" dirty="0"/>
              <a:t>. There is also the possibility to set the </a:t>
            </a:r>
            <a:r>
              <a:rPr lang="en-US" dirty="0" err="1"/>
              <a:t>colours</a:t>
            </a:r>
            <a:r>
              <a:rPr lang="en-US" dirty="0"/>
              <a:t> manual, recommended if you have different types of plots, and want always the same </a:t>
            </a:r>
            <a:r>
              <a:rPr lang="en-US" dirty="0" err="1"/>
              <a:t>colour</a:t>
            </a:r>
            <a:r>
              <a:rPr lang="en-US" dirty="0"/>
              <a:t> per Species. For both options there are ways to check if there are working for color blind people. Therefor you have to install and load the package “</a:t>
            </a:r>
            <a:r>
              <a:rPr lang="en-US" dirty="0" err="1"/>
              <a:t>colorblindcheck</a:t>
            </a:r>
            <a:r>
              <a:rPr lang="en-US" dirty="0"/>
              <a:t>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063F4-3C1C-DBA3-9F33-ACA962866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0616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fonts: 'serif', 'sans', and 'mono' are the main families, but you can also use any installed system font by name.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project-specific part using animal silhouettes. The ggimage package lets you use images as plot points instead of circles. We use dplyr's mutate() and case_when() to assign the correct image file to each species. The images should be in your project folder. SVG format works best for scaling.
Source for silhouettes: PhyloPic (https://www.phylopic.org/) provides free silhouettes of organisms.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ggsave() saves the last plot displayed. PNG at 300 DPI is good for presentations and posters. SVG is vector-based — it scales perfectly for publications. Always specify width and height for consistent sizing.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FAFC0-662F-3B9B-773B-FFB6DD3B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43E71-E5EE-F47B-42DB-2FFEB88D3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F26E3-0012-495B-30A0-B20355128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 is the Help button on the top menu next to “Tools”, not the “Help” you find on the right-hand side next to “Packages”. But both will lead you forward, searching for “</a:t>
            </a:r>
            <a:r>
              <a:rPr lang="en-US" dirty="0" err="1"/>
              <a:t>ggplot</a:t>
            </a:r>
            <a:r>
              <a:rPr lang="en-US" dirty="0"/>
              <a:t>” in the other “help” menu will also give you advice and refers to the ggplot2 book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0FE99-C67A-F041-53B6-372DA8BD7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8913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3045-4543-2EEE-A3E0-F5483DEAC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84F2B-C24F-C5FF-F82D-920547A40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2EAB4-48C7-A93C-ABB9-1C29A75B1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ggplot2 cheat sheet is your best friend — download it and keep it open. The ? prefix brings up help for any function. Stack Overflow has answers to nearly every R question. The ggplot2 book (ggplot2-book.org) is the comprehensive reference by Hadley Wickham.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4B8E1-B85E-FAAD-6DC1-580F8AC06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101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06F4-F967-EF6F-B8E1-99AB923B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19EEE-53DD-3724-1EC4-548BEEF88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2BAF8-F389-7492-2158-7FE1FE360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ggplot2 cheat sheet is your best friend — download it and keep it open. The ? prefix brings up help for any function. Stack Overflow has answers to nearly every R question. The ggplot2 book (ggplot2-book.org) is the comprehensive reference by Hadley Wickham.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2D9BB-8E7E-BB8A-3E04-89F15F34E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4200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review what we've learned and look at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 saves hours of debugging. Key habits: lowercase everything, comment generously, save scripts (not just console commands), and always use projects. These seem small but they prevent the most common frustrations.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self-study: R for Data Science is the gold standard intro book and it's completely free online. The cheat sheets are invaluable — print the ggplot2 one. The workshop repository has all the scripts and data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everyone for participating. Open the floor for questions. Remind them: the slides and scripts are available in the repository. Encourage them to practice on their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slides for common questions and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most common questions from beginners. The &lt;- vs = distinction trips people up but isn't critical — just use &lt;-. 'Object not found' is almost always a typo or forgetting to run a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'My plot is empty' is the #1 plotting question. It's almost always a missing geom layer or a typo in column names. The other common questions are about customization — ggplot2 is incredibly flexible.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installation problems you might encounter. Most can be solved by reinstalling or running as admin. Mac users sometimes need Xcode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errors are the most frustrating. 'Unexpected symbol' almost always means a missing comma or bracket on the previous line. Column name mismatches are extremely common — R is case-sensitive.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glossary covers all the key terms from the workshop. Print it out or save it as a quick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026F8-2F8A-7D26-D392-C507AA97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07968-2B36-5BF8-E215-D6FC5DF56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95A64-3169-60A7-6CE9-50164B8A2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glossary covers all the key terms from the workshop. Print it out or save it as a quick reference.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82B5-B42D-8EBC-932F-2054670340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492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-book.org/themes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hyperlink" Target="https://posit.co/wp-content/uploads/2022/10/data-visualization-1.pdf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tu-dresden.de/gsw/phil/iso/mes/ressourcen/dateien/prof/lehre/freieS/Dateien/Einfuehrung_R.pdf?lang=de" TargetMode="External"/><Relationship Id="rId7" Type="http://schemas.openxmlformats.org/officeDocument/2006/relationships/hyperlink" Target="https://cran.r-project.org/web/packages/colorblindcheck/vignettes/intro-to-colorblindcheck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sc-biodiv-der-pflanzen-zizka-df3996514e4d00205673a00a6d55070dc.pages.uni-marburg.de/book/05_einf%C3%BChrung_in_R.html" TargetMode="External"/><Relationship Id="rId5" Type="http://schemas.openxmlformats.org/officeDocument/2006/relationships/hyperlink" Target="https://www.produnis.de/R/statistik-mit-R.html%2003/09/2026" TargetMode="External"/><Relationship Id="rId4" Type="http://schemas.openxmlformats.org/officeDocument/2006/relationships/hyperlink" Target="http://www.barbicanra.co.uk/assets/basic-statisti-cal-graphic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R</a:t>
            </a:r>
            <a:endParaRPr lang="en-US" sz="4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Archaeologists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Elisabeth Hähner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10.03.2026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33272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1640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960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&amp; Open-Source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344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expensive licenses. R is maintained by a global community and runs on Windows, Mac, and Linux.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084832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2215591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Research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2395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analysis is saved as a script — anyone can re-run it and get the same results. No more "which button did I click?"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136392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267151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Powerful Visualizations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34472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publication-ready plots that go far beyond what Excel can offer, with full control over every detail.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7840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1498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96012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 &amp; RStudio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145389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49047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43560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project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1929384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4864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96596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191109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prepare data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4414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238658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data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291693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286207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plots with ggplot2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3392424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333756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&amp; save results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 / RStudio?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6576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32588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the programming language that does the actual computing — statistics, data manipulation, and plotting.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10515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0" y="1051560"/>
            <a:ext cx="3657600" cy="54864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2588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RStudio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521208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30352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is the user-friendly interface (IDE) that makes working with R much easier — like a car's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B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B8504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R and RStudio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3227" y="124959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3227" y="12362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3612" y="1223010"/>
            <a:ext cx="30660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 from CRAN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https://cran.r-project.org/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3227" y="22631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2440" y="2249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3613" y="2021160"/>
            <a:ext cx="30660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RStudio from Posit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https://posit.co/download/rstudio-desktop/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967900"/>
            <a:ext cx="3568995" cy="640080"/>
          </a:xfrm>
          <a:prstGeom prst="rect">
            <a:avLst/>
          </a:prstGeom>
          <a:solidFill>
            <a:srgbClr val="A7BEA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" y="31507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56022" y="2956471"/>
            <a:ext cx="31936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install R first, then RStudio. Both are completely free.</a:t>
            </a:r>
            <a:endParaRPr lang="en-US" sz="1300" dirty="0"/>
          </a:p>
        </p:txBody>
      </p:sp>
      <p:pic>
        <p:nvPicPr>
          <p:cNvPr id="14" name="Image 1" descr="/tmp/rworkshop_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688" y="1005839"/>
            <a:ext cx="4919540" cy="2602141"/>
          </a:xfrm>
          <a:prstGeom prst="rect">
            <a:avLst/>
          </a:prstGeom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RStudio Interface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pic>
        <p:nvPicPr>
          <p:cNvPr id="5" name="Image 0" descr="/tmp/rworkshop_unpacked/ppt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6400800" cy="3452492"/>
          </a:xfrm>
          <a:prstGeom prst="rect">
            <a:avLst/>
          </a:prstGeom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086600" y="1105372"/>
            <a:ext cx="20574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086600" y="1105372"/>
            <a:ext cx="54864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223760" y="1097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Editor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save scripts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1791172"/>
            <a:ext cx="20574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086600" y="1791172"/>
            <a:ext cx="54864" cy="54864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23760" y="1783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 directly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86600" y="2476972"/>
            <a:ext cx="20574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086600" y="2476972"/>
            <a:ext cx="54864" cy="548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223760" y="2468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variables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86600" y="3162772"/>
            <a:ext cx="20574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86600" y="3162772"/>
            <a:ext cx="54864" cy="5486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2376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/ Plots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files, view plots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New Project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keep files organized and set the working directory automatically.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File → New Project</a:t>
            </a:r>
            <a:endParaRPr lang="en-US" sz="1300" dirty="0"/>
          </a:p>
        </p:txBody>
      </p:sp>
      <p:pic>
        <p:nvPicPr>
          <p:cNvPr id="7" name="Image 0" descr="/tmp/rworkshop_unpacked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85" y="1783080"/>
            <a:ext cx="2678229" cy="1920240"/>
          </a:xfrm>
          <a:prstGeom prst="rect">
            <a:avLst/>
          </a:prstGeom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33375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New Directory</a:t>
            </a:r>
            <a:endParaRPr lang="en-US" sz="1300" dirty="0"/>
          </a:p>
        </p:txBody>
      </p:sp>
      <p:pic>
        <p:nvPicPr>
          <p:cNvPr id="9" name="Image 1" descr="/tmp/rworkshop_unpacked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485" y="1783080"/>
            <a:ext cx="2665030" cy="1920240"/>
          </a:xfrm>
          <a:prstGeom prst="rect">
            <a:avLst/>
          </a:prstGeom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60807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Name &amp; location</a:t>
            </a:r>
            <a:endParaRPr lang="en-US" sz="1300" dirty="0"/>
          </a:p>
        </p:txBody>
      </p:sp>
      <p:pic>
        <p:nvPicPr>
          <p:cNvPr id="11" name="Image 2" descr="/tmp/rworkshop_unpacked/ppt/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393" y="1783080"/>
            <a:ext cx="2701614" cy="1920240"/>
          </a:xfrm>
          <a:prstGeom prst="rect">
            <a:avLst/>
          </a:prstGeom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2" name="Shape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A7BEA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319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short file path — avoid spaces and special characters in folder names.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Packages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are add-ons that extend R's capabilities — like apps on a phone.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packages (only needed once)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install.packages(c(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"ggplot2",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"dplyr",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"ggimage",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"writexl",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"RColorBrewer",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"systemfonts"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3017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54864" cy="228600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150876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install once!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installation, you load packages each session with library().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may take a few minutes to download and install.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Packages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packages at the start of every R session: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" cy="18288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packages (every session)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library(ggimage)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library(writexl)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library(RColorBrewer)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library(systemfonts)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325880"/>
            <a:ext cx="3017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064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vs Load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06440" y="1783080"/>
            <a:ext cx="2743200" cy="27432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0" y="18745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install.packages()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once (like installing an app)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library()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every session (like opening an app)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A7BEA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3872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33832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see: </a:t>
            </a: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"there is no package called 'X'"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 install.packages("X") first.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B8504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 Data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Your CSV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your Excel data as CSV before loading into 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657600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(Excel CSV)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291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as decimal: 3,14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Semicolons as field separator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rows at bottom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issues (umlauts)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73736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029200" y="128016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(R-ready)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755648"/>
            <a:ext cx="3291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as decimal: 3.14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sep=";" in read.csv()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empty rows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encoding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A7BEA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6334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60120" y="3749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Excel uses ";" as separator and "," for decimals. R expects "." for decimals.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Data into 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import your CSV file: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40480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3566160" cy="1417320"/>
          </a:xfrm>
          <a:prstGeom prst="rect">
            <a:avLst/>
          </a:prstGeom>
          <a:solidFill>
            <a:srgbClr val="F5F2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1783080"/>
            <a:ext cx="45720" cy="14173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Opens a file picker</a:t>
            </a:r>
            <a:endParaRPr lang="en-US" sz="11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&lt;- read.csv(</a:t>
            </a:r>
            <a:endParaRPr lang="en-US" sz="11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file.choose(),</a:t>
            </a:r>
            <a:endParaRPr lang="en-US" sz="11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sep = ";",</a:t>
            </a:r>
            <a:endParaRPr lang="en-US" sz="11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 = TRUE</a:t>
            </a:r>
            <a:endParaRPr lang="en-US" sz="11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file.choose() opens a file picker dialog.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38404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3840480" cy="384048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Click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755648"/>
            <a:ext cx="3566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"Environment“ pane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"Import Dataset"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"From Text (base)"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Browse to your CSV file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separator to Semicolon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Check the data preview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Click "Import"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at Your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your data after loading: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86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head(df)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first 6 rows of your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280160"/>
            <a:ext cx="3886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28016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str(df)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structure: column names, types, sample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886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summary(df)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max, mean, and quartiles for each column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2788920"/>
            <a:ext cx="38862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78892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View(df)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3429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spreadsheet-like viewer (capital V!)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for Problems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" cy="20116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for any missing values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is.na(df)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missing in one column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sum(is.na(df$d15N))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missing in all columns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colSums(is.na(df))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Column Types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54864" cy="20116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types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str(df)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text to number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df$d15N &lt;- as.numeric(df$d15N)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factor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df$Species &lt;- as.factor(df$Species)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A7BEA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1188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3474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cause warnings in plots and calculations. Fix them before continuing!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Commands — Part 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Directory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199" y="1280160"/>
            <a:ext cx="54865" cy="15087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 current working directory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getwd()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working directory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setwd("C:/Users/name/Documents/project")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19" y="1280160"/>
            <a:ext cx="62431" cy="15087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 CSV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write.csv(df, "my_results.csv")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 Excel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writexl::write_xlsx(df, "results.xlsx")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61152"/>
            <a:ext cx="8229600" cy="548640"/>
          </a:xfrm>
          <a:prstGeom prst="rect">
            <a:avLst/>
          </a:prstGeom>
          <a:solidFill>
            <a:srgbClr val="A7BEA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74036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3161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use projects, R automatically sets the working directory to your project folder.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4AA79-382C-C034-B128-46860557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F39766-4CD5-7F1A-E2A7-32CDCEBDA347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Creating a separate output folder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86E712-CBBC-8902-3D7A-79989E426215}"/>
              </a:ext>
            </a:extLst>
          </p:cNvPr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6BCC04-FF46-B759-A49F-CCC03B4E97E2}"/>
              </a:ext>
            </a:extLst>
          </p:cNvPr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F08AAB-EEFB-C5C6-5A77-1C6FEE55FD7F}"/>
              </a:ext>
            </a:extLst>
          </p:cNvPr>
          <p:cNvSpPr/>
          <p:nvPr/>
        </p:nvSpPr>
        <p:spPr>
          <a:xfrm>
            <a:off x="495762" y="13247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</a:rPr>
              <a:t>Creating a folder “tables”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A6BE22-67A8-A0BF-83EC-BBF279767ACA}"/>
              </a:ext>
            </a:extLst>
          </p:cNvPr>
          <p:cNvSpPr/>
          <p:nvPr/>
        </p:nvSpPr>
        <p:spPr>
          <a:xfrm>
            <a:off x="512064" y="1809176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4EF7F75-72C3-6686-9E22-2C72D08AAA94}"/>
              </a:ext>
            </a:extLst>
          </p:cNvPr>
          <p:cNvSpPr/>
          <p:nvPr/>
        </p:nvSpPr>
        <p:spPr>
          <a:xfrm>
            <a:off x="495762" y="1817370"/>
            <a:ext cx="54865" cy="15087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45CEA2-DF1E-2EC5-36A6-EC5B817FA784}"/>
              </a:ext>
            </a:extLst>
          </p:cNvPr>
          <p:cNvSpPr/>
          <p:nvPr/>
        </p:nvSpPr>
        <p:spPr>
          <a:xfrm>
            <a:off x="640080" y="185166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output folder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spcAft>
                <a:spcPts val="300"/>
              </a:spcAft>
            </a:pPr>
            <a:r>
              <a:rPr lang="en-US" sz="1300" dirty="0">
                <a:solidFill>
                  <a:schemeClr val="accent2"/>
                </a:solidFill>
              </a:rPr>
              <a:t>if</a:t>
            </a:r>
            <a:r>
              <a:rPr lang="en-US" sz="1300" dirty="0">
                <a:solidFill>
                  <a:prstClr val="black"/>
                </a:solidFill>
              </a:rPr>
              <a:t> (!</a:t>
            </a:r>
            <a:r>
              <a:rPr lang="en-US" sz="1300" dirty="0" err="1">
                <a:solidFill>
                  <a:prstClr val="black"/>
                </a:solidFill>
              </a:rPr>
              <a:t>dir.exists</a:t>
            </a:r>
            <a:r>
              <a:rPr lang="en-US" sz="1300" dirty="0"/>
              <a:t>(</a:t>
            </a:r>
            <a:r>
              <a:rPr lang="en-US" sz="1300" dirty="0">
                <a:solidFill>
                  <a:srgbClr val="00B050"/>
                </a:solidFill>
              </a:rPr>
              <a:t>"./tables"</a:t>
            </a:r>
            <a:r>
              <a:rPr lang="en-US" sz="1300" dirty="0"/>
              <a:t>))</a:t>
            </a:r>
            <a:r>
              <a:rPr lang="en-US" sz="1300" dirty="0">
                <a:solidFill>
                  <a:srgbClr val="00B050"/>
                </a:solidFill>
              </a:rPr>
              <a:t> </a:t>
            </a:r>
            <a:r>
              <a:rPr lang="en-US" sz="1300" dirty="0">
                <a:solidFill>
                  <a:prstClr val="black"/>
                </a:solidFill>
              </a:rPr>
              <a:t>{  </a:t>
            </a:r>
          </a:p>
          <a:p>
            <a:pPr lvl="0">
              <a:spcAft>
                <a:spcPts val="300"/>
              </a:spcAft>
            </a:pPr>
            <a:r>
              <a:rPr lang="en-US" sz="1300" dirty="0" err="1">
                <a:solidFill>
                  <a:prstClr val="black"/>
                </a:solidFill>
              </a:rPr>
              <a:t>dir.create</a:t>
            </a:r>
            <a:r>
              <a:rPr lang="en-US" sz="1300" dirty="0"/>
              <a:t>(</a:t>
            </a:r>
            <a:r>
              <a:rPr lang="en-US" sz="1300" dirty="0">
                <a:solidFill>
                  <a:srgbClr val="00B050"/>
                </a:solidFill>
              </a:rPr>
              <a:t>"./tables"</a:t>
            </a:r>
            <a:r>
              <a:rPr lang="en-US" sz="1300" dirty="0"/>
              <a:t>,</a:t>
            </a:r>
            <a:r>
              <a:rPr lang="en-US" sz="1300" dirty="0">
                <a:solidFill>
                  <a:srgbClr val="00B050"/>
                </a:solidFill>
              </a:rPr>
              <a:t> </a:t>
            </a:r>
            <a:r>
              <a:rPr lang="en-US" sz="1300" dirty="0">
                <a:solidFill>
                  <a:prstClr val="black"/>
                </a:solidFill>
              </a:rPr>
              <a:t>recursive = TRUE, </a:t>
            </a:r>
            <a:r>
              <a:rPr lang="en-US" sz="1300" dirty="0" err="1">
                <a:solidFill>
                  <a:prstClr val="black"/>
                </a:solidFill>
              </a:rPr>
              <a:t>showWarnings</a:t>
            </a:r>
            <a:r>
              <a:rPr lang="en-US" sz="1300" dirty="0">
                <a:solidFill>
                  <a:prstClr val="black"/>
                </a:solidFill>
              </a:rPr>
              <a:t> = FALSE)}</a:t>
            </a:r>
          </a:p>
          <a:p>
            <a:pPr lvl="0">
              <a:spcAft>
                <a:spcPts val="300"/>
              </a:spcAft>
            </a:pPr>
            <a:r>
              <a:rPr lang="en-US" sz="1300" dirty="0" err="1">
                <a:solidFill>
                  <a:prstClr val="black"/>
                </a:solidFill>
              </a:rPr>
              <a:t>tab_output_dir</a:t>
            </a:r>
            <a:r>
              <a:rPr lang="en-US" sz="1300" dirty="0">
                <a:solidFill>
                  <a:prstClr val="black"/>
                </a:solidFill>
              </a:rPr>
              <a:t> &lt;- </a:t>
            </a:r>
            <a:r>
              <a:rPr lang="en-US" sz="1300" dirty="0" err="1">
                <a:solidFill>
                  <a:prstClr val="black"/>
                </a:solidFill>
              </a:rPr>
              <a:t>file.path</a:t>
            </a:r>
            <a:r>
              <a:rPr lang="en-US" sz="1300" dirty="0">
                <a:solidFill>
                  <a:prstClr val="black"/>
                </a:solidFill>
              </a:rPr>
              <a:t>("./tables")</a:t>
            </a:r>
          </a:p>
          <a:p>
            <a:pPr lvl="0">
              <a:spcAft>
                <a:spcPts val="300"/>
              </a:spcAft>
            </a:pPr>
            <a:r>
              <a:rPr lang="en-US" sz="1300" dirty="0" err="1">
                <a:solidFill>
                  <a:prstClr val="black"/>
                </a:solidFill>
              </a:rPr>
              <a:t>tab_output_dir</a:t>
            </a:r>
            <a:r>
              <a:rPr lang="en-US" sz="1300" dirty="0">
                <a:solidFill>
                  <a:prstClr val="black"/>
                </a:solidFill>
              </a:rPr>
              <a:t> &lt;- "tables"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6EDCB0-AC61-0DA3-2488-DBB7203EE630}"/>
              </a:ext>
            </a:extLst>
          </p:cNvPr>
          <p:cNvSpPr/>
          <p:nvPr/>
        </p:nvSpPr>
        <p:spPr>
          <a:xfrm>
            <a:off x="4765015" y="1329873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Saving to the folder “tables”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F0FC8D-EA00-A021-1E83-845A6058870A}"/>
              </a:ext>
            </a:extLst>
          </p:cNvPr>
          <p:cNvSpPr/>
          <p:nvPr/>
        </p:nvSpPr>
        <p:spPr>
          <a:xfrm>
            <a:off x="4746144" y="1804792"/>
            <a:ext cx="3986784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E6D186E-7803-55B7-A851-ED148E6D8AF7}"/>
              </a:ext>
            </a:extLst>
          </p:cNvPr>
          <p:cNvSpPr/>
          <p:nvPr/>
        </p:nvSpPr>
        <p:spPr>
          <a:xfrm>
            <a:off x="4733800" y="1804792"/>
            <a:ext cx="62431" cy="15087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D3A2F4-84F7-2A2F-85F1-A741EDE30611}"/>
              </a:ext>
            </a:extLst>
          </p:cNvPr>
          <p:cNvSpPr/>
          <p:nvPr/>
        </p:nvSpPr>
        <p:spPr>
          <a:xfrm>
            <a:off x="4846319" y="1851660"/>
            <a:ext cx="3856783" cy="133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take the defined output direction and choose a name for our file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 err="1">
                <a:solidFill>
                  <a:srgbClr val="2D2D2D"/>
                </a:solidFill>
                <a:latin typeface="Consolas" pitchFamily="34" charset="0"/>
              </a:rPr>
              <a:t>full_path</a:t>
            </a:r>
            <a:r>
              <a:rPr lang="en-US" sz="1300" dirty="0">
                <a:solidFill>
                  <a:srgbClr val="2D2D2D"/>
                </a:solidFill>
                <a:latin typeface="Consolas" pitchFamily="34" charset="0"/>
              </a:rPr>
              <a:t> &lt;- </a:t>
            </a:r>
            <a:r>
              <a:rPr lang="en-US" sz="1300" dirty="0" err="1">
                <a:solidFill>
                  <a:srgbClr val="2D2D2D"/>
                </a:solidFill>
                <a:latin typeface="Consolas" pitchFamily="34" charset="0"/>
              </a:rPr>
              <a:t>file.path</a:t>
            </a:r>
            <a:r>
              <a:rPr lang="en-US" sz="1300" dirty="0">
                <a:solidFill>
                  <a:srgbClr val="2D2D2D"/>
                </a:solidFill>
                <a:latin typeface="Consolas" pitchFamily="34" charset="0"/>
              </a:rPr>
              <a:t>(</a:t>
            </a:r>
            <a:r>
              <a:rPr lang="en-US" sz="1300" dirty="0" err="1">
                <a:solidFill>
                  <a:srgbClr val="2D2D2D"/>
                </a:solidFill>
                <a:latin typeface="Consolas" pitchFamily="34" charset="0"/>
              </a:rPr>
              <a:t>tab_output_dir</a:t>
            </a:r>
            <a:r>
              <a:rPr lang="en-US" sz="1300" dirty="0">
                <a:solidFill>
                  <a:srgbClr val="2D2D2D"/>
                </a:solidFill>
                <a:latin typeface="Consolas" pitchFamily="34" charset="0"/>
              </a:rPr>
              <a:t>, </a:t>
            </a:r>
            <a:r>
              <a:rPr lang="en-US" sz="1300" dirty="0">
                <a:solidFill>
                  <a:srgbClr val="00B050"/>
                </a:solidFill>
                <a:latin typeface="Consolas" pitchFamily="34" charset="0"/>
              </a:rPr>
              <a:t>“Collagen_Results_Maidanetske.xlsx”</a:t>
            </a:r>
            <a:r>
              <a:rPr lang="en-US" sz="1300" dirty="0">
                <a:latin typeface="Consolas" pitchFamily="34" charset="0"/>
              </a:rPr>
              <a:t>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 Excel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writexl</a:t>
            </a: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3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write_xlsx</a:t>
            </a: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summary_df</a:t>
            </a: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full_path</a:t>
            </a: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2D91E38-6B10-007A-4F60-854A15AB3C15}"/>
              </a:ext>
            </a:extLst>
          </p:cNvPr>
          <p:cNvSpPr/>
          <p:nvPr/>
        </p:nvSpPr>
        <p:spPr>
          <a:xfrm>
            <a:off x="512064" y="3892672"/>
            <a:ext cx="8229600" cy="548640"/>
          </a:xfrm>
          <a:prstGeom prst="rect">
            <a:avLst/>
          </a:prstGeom>
          <a:solidFill>
            <a:srgbClr val="A7BEAE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73AA7475-47E0-1F94-D239-0C96C28A8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56" y="4029832"/>
            <a:ext cx="274320" cy="274320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F4246040-4E90-2BE7-4CB2-919025986984}"/>
              </a:ext>
            </a:extLst>
          </p:cNvPr>
          <p:cNvSpPr/>
          <p:nvPr/>
        </p:nvSpPr>
        <p:spPr>
          <a:xfrm>
            <a:off x="920168" y="38926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output folder can be very useful if you are going to create a lot of tables/figures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346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Recap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862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3611880" cy="548640"/>
          </a:xfrm>
          <a:prstGeom prst="rect">
            <a:avLst/>
          </a:prstGeom>
          <a:solidFill>
            <a:srgbClr val="F5F2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8132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&lt;- 42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&lt;- "bone"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values with &lt;- (the arrow)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38862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1155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1463040"/>
            <a:ext cx="3611880" cy="548640"/>
          </a:xfrm>
          <a:prstGeom prst="rect">
            <a:avLst/>
          </a:prstGeom>
          <a:solidFill>
            <a:srgbClr val="F5F2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148132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mean(x)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read.csv(file)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things with function(argument)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38862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715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Frames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3063240"/>
            <a:ext cx="3611880" cy="548640"/>
          </a:xfrm>
          <a:prstGeom prst="rect">
            <a:avLst/>
          </a:prstGeom>
          <a:solidFill>
            <a:srgbClr val="F5F2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08152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df$column_name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df[1, 2]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of data; access with $ or [ 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26060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2606040"/>
            <a:ext cx="38862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2715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7760" y="3063240"/>
            <a:ext cx="3611880" cy="548640"/>
          </a:xfrm>
          <a:prstGeom prst="rect">
            <a:avLst/>
          </a:prstGeom>
          <a:solidFill>
            <a:srgbClr val="F5F2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308152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is a comment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 ignores text after #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code with #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B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B8504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Plots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Grammar of ggplot2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ggplot has three essential components: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3774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37744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459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frame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to plot)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17520" y="19659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3383280" y="1417320"/>
            <a:ext cx="23774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83280" y="1417320"/>
            <a:ext cx="2377440" cy="54864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4592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Aesthetics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5204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like x, y, color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to map it)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760720" y="19659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6126480" y="1417320"/>
            <a:ext cx="23774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26480" y="1417320"/>
            <a:ext cx="2377440" cy="54864"/>
          </a:xfrm>
          <a:prstGeom prst="rect">
            <a:avLst/>
          </a:prstGeom>
          <a:solidFill>
            <a:srgbClr val="5B2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64592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2636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geom_point, geom_line, ...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shape to draw)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14400" y="3840480"/>
            <a:ext cx="45720" cy="5486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097280" y="3840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ggplot(data = df, aes(x = d13C, y = d15N)) + geom_point()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Scatter Plot (1/2)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0" cy="36361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199" y="960120"/>
            <a:ext cx="63237" cy="363615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scatter plot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df,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aes(x = d13C, y = d15N)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color by species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df,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aes(x = d13C, y = d15N,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color = Species)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geom_point(size = 3)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53223" y="2357621"/>
            <a:ext cx="3050697" cy="94755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each line: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df → which dataset to use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aes() → map columns to axes &amp; color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geom_point() → draw points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FA84D-182B-688B-20CE-1E56F1FB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36186E-8C68-5B9E-40E9-0AC9582E2E4C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Scatter Plot (2/2)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89505F-E311-D9F8-5811-954E676A3133}"/>
              </a:ext>
            </a:extLst>
          </p:cNvPr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8CCEDE-5FE2-DEDF-670E-99A416B297A3}"/>
              </a:ext>
            </a:extLst>
          </p:cNvPr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pic>
        <p:nvPicPr>
          <p:cNvPr id="8" name="Image 0" descr="/tmp/rworkshop_unpacked/ppt/media/image24.png">
            <a:extLst>
              <a:ext uri="{FF2B5EF4-FFF2-40B4-BE49-F238E27FC236}">
                <a16:creationId xmlns:a16="http://schemas.microsoft.com/office/drawing/2014/main" id="{C77AE80B-0F5F-1189-6A66-96FBDE116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55" y="998219"/>
            <a:ext cx="8816085" cy="3147061"/>
          </a:xfrm>
          <a:prstGeom prst="rect">
            <a:avLst/>
          </a:prstGeom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7255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Customize Your Plot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303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" cy="27432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labels and a clean theme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ggplot(df, aes(x = d13C, y = d15N,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color = Species)) +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geom_point(size = 3) +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"Stable Isotopes by Species",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expression(delta^13*C~"\u2030"),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expression(delta^15*N~"\u2030")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+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scale_color_brewer(palette = "Set2") +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theme_bw()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30265" y="960120"/>
            <a:ext cx="3108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30265" y="960120"/>
            <a:ext cx="3108960" cy="54864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04585" y="996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Functions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04585" y="1412748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labs()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title, subtitle, axis labels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scale_color_brewer()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ColorBrewer palettes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theme_bw()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black-and-white theme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theme()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fonts, sizes, margins</a:t>
            </a:r>
            <a:endParaRPr lang="en-US" sz="13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59DC7BA-1595-440A-3910-6E9332E6AA04}"/>
              </a:ext>
            </a:extLst>
          </p:cNvPr>
          <p:cNvSpPr txBox="1"/>
          <p:nvPr/>
        </p:nvSpPr>
        <p:spPr>
          <a:xfrm>
            <a:off x="981076" y="3886200"/>
            <a:ext cx="6996112" cy="292388"/>
          </a:xfrm>
          <a:prstGeom prst="rect">
            <a:avLst/>
          </a:prstGeom>
          <a:solidFill>
            <a:srgbClr val="C6D3C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Good Overview of existing themes is in the ggplot2-book: </a:t>
            </a:r>
            <a:r>
              <a:rPr lang="en-GB" sz="1300" dirty="0">
                <a:hlinkClick r:id="rId3"/>
              </a:rPr>
              <a:t>https://ggplot2-book.org/themes.html</a:t>
            </a:r>
            <a:r>
              <a:rPr lang="en-GB" sz="1300" dirty="0"/>
              <a:t>  </a:t>
            </a: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0620F0D9-60D8-8CB4-DB6C-32FF5234B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6" y="3917647"/>
            <a:ext cx="216218" cy="2162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6D669-3F30-CAFC-AD69-910D0BB09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6A5FE7-52C5-9900-6160-05D06A6E329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Colours</a:t>
            </a:r>
            <a:r>
              <a:rPr lang="en-US" sz="3600" b="1" dirty="0">
                <a:solidFill>
                  <a:srgbClr val="B85042"/>
                </a:solidFill>
                <a:latin typeface="Georgia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(2 options with palette or manual)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3495D6-68E1-D9E2-53FF-6EF1B5B45F82}"/>
              </a:ext>
            </a:extLst>
          </p:cNvPr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8DC938-A99B-E839-01FA-EDA889070E7E}"/>
              </a:ext>
            </a:extLst>
          </p:cNvPr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A3370F-C6A0-1E68-28FF-34749C0382E1}"/>
              </a:ext>
            </a:extLst>
          </p:cNvPr>
          <p:cNvSpPr/>
          <p:nvPr/>
        </p:nvSpPr>
        <p:spPr>
          <a:xfrm>
            <a:off x="457199" y="788456"/>
            <a:ext cx="3680462" cy="109631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705C18-C5A0-0621-4235-08B86CCAEFD6}"/>
              </a:ext>
            </a:extLst>
          </p:cNvPr>
          <p:cNvSpPr/>
          <p:nvPr/>
        </p:nvSpPr>
        <p:spPr>
          <a:xfrm>
            <a:off x="457199" y="777240"/>
            <a:ext cx="45719" cy="109631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2EFB99-0E85-E20D-1A9C-931D75FF987D}"/>
              </a:ext>
            </a:extLst>
          </p:cNvPr>
          <p:cNvSpPr/>
          <p:nvPr/>
        </p:nvSpPr>
        <p:spPr>
          <a:xfrm>
            <a:off x="614934" y="837606"/>
            <a:ext cx="4069080" cy="126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See all available palettes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display.brewer.all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>
                <a:solidFill>
                  <a:srgbClr val="888888"/>
                </a:solidFill>
                <a:latin typeface="Consolas" panose="020B0609020204030204" pitchFamily="49" charset="0"/>
              </a:rPr>
              <a:t>#choose a palette for your plot</a:t>
            </a:r>
            <a:endParaRPr lang="en-US" sz="1300" dirty="0">
              <a:solidFill>
                <a:prstClr val="black"/>
              </a:solidFill>
            </a:endParaRPr>
          </a:p>
          <a:p>
            <a:pPr lvl="0">
              <a:spcAft>
                <a:spcPts val="300"/>
              </a:spcAft>
            </a:pPr>
            <a:r>
              <a:rPr lang="en-US" sz="1300" dirty="0" err="1">
                <a:solidFill>
                  <a:prstClr val="black"/>
                </a:solidFill>
              </a:rPr>
              <a:t>scale_color_brewer</a:t>
            </a:r>
            <a:r>
              <a:rPr lang="en-US" sz="1300" dirty="0">
                <a:solidFill>
                  <a:prstClr val="black"/>
                </a:solidFill>
              </a:rPr>
              <a:t>(palette = "Dark2") +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6340BA2D-F6FE-49AC-340B-B203499076C1}"/>
              </a:ext>
            </a:extLst>
          </p:cNvPr>
          <p:cNvSpPr/>
          <p:nvPr/>
        </p:nvSpPr>
        <p:spPr>
          <a:xfrm>
            <a:off x="4846322" y="753952"/>
            <a:ext cx="3933440" cy="245070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lvl="0">
              <a:spcAft>
                <a:spcPts val="300"/>
              </a:spcAft>
              <a:defRPr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</a:t>
            </a:r>
            <a:r>
              <a:rPr lang="en-US" sz="1300" dirty="0" err="1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colours</a:t>
            </a: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species manually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3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farben</a:t>
            </a: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&lt;- c("Wild animals" = “green",             "Pig (Sus scrofa f. domestica)" = “pink",            "Dog (Canis lupus f. familiaris)" = “chocolate",            "Cattle (Bos primigenius f. taurus)" = "#blue",            "Sheep/Goat (Ovis/Capra)" = "#orange“)</a:t>
            </a:r>
          </a:p>
          <a:p>
            <a:pPr lvl="0">
              <a:spcAft>
                <a:spcPts val="300"/>
              </a:spcAft>
              <a:defRPr/>
            </a:pPr>
            <a:endParaRPr lang="en-US" sz="1300" dirty="0">
              <a:solidFill>
                <a:srgbClr val="88888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0">
              <a:spcAft>
                <a:spcPts val="300"/>
              </a:spcAft>
              <a:defRPr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integrate into plot code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 + </a:t>
            </a:r>
            <a:r>
              <a:rPr lang="en-US" sz="13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scale_colour_manual</a:t>
            </a: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(values = </a:t>
            </a:r>
            <a:r>
              <a:rPr lang="en-US" sz="13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farben</a:t>
            </a: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endParaRPr lang="en-US" sz="1300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6ACFA3CE-7339-19F3-B52E-B446E90406B8}"/>
              </a:ext>
            </a:extLst>
          </p:cNvPr>
          <p:cNvSpPr/>
          <p:nvPr/>
        </p:nvSpPr>
        <p:spPr>
          <a:xfrm>
            <a:off x="4841747" y="753952"/>
            <a:ext cx="50293" cy="245070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D9EC7D1-CEA1-D8D3-9F64-21CF17354CBD}"/>
              </a:ext>
            </a:extLst>
          </p:cNvPr>
          <p:cNvSpPr txBox="1"/>
          <p:nvPr/>
        </p:nvSpPr>
        <p:spPr>
          <a:xfrm>
            <a:off x="455387" y="4084082"/>
            <a:ext cx="3682274" cy="692497"/>
          </a:xfrm>
          <a:prstGeom prst="rect">
            <a:avLst/>
          </a:prstGeom>
          <a:solidFill>
            <a:srgbClr val="C6D3C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To check for </a:t>
            </a:r>
            <a:r>
              <a:rPr lang="en-GB" sz="1300" dirty="0" err="1"/>
              <a:t>color</a:t>
            </a:r>
            <a:r>
              <a:rPr lang="en-GB" sz="1300" dirty="0"/>
              <a:t> Blindness with package “</a:t>
            </a:r>
            <a:r>
              <a:rPr lang="en-GB" sz="1300" dirty="0" err="1"/>
              <a:t>colorblindcheck</a:t>
            </a:r>
            <a:r>
              <a:rPr lang="en-GB" sz="1300" dirty="0"/>
              <a:t>”:</a:t>
            </a:r>
          </a:p>
          <a:p>
            <a:pPr algn="ctr"/>
            <a:r>
              <a:rPr lang="en-GB" sz="1300" dirty="0" err="1"/>
              <a:t>palette_check</a:t>
            </a:r>
            <a:r>
              <a:rPr lang="en-GB" sz="1300" dirty="0"/>
              <a:t>(</a:t>
            </a:r>
            <a:r>
              <a:rPr lang="en-GB" sz="1300" dirty="0" err="1"/>
              <a:t>brewer.pal</a:t>
            </a:r>
            <a:r>
              <a:rPr lang="en-GB" sz="1300" dirty="0"/>
              <a:t>(5, “Dark2”), plot = TRUE)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64C5331F-AD63-2E23-8EA4-080AF68C0A05}"/>
              </a:ext>
            </a:extLst>
          </p:cNvPr>
          <p:cNvSpPr txBox="1"/>
          <p:nvPr/>
        </p:nvSpPr>
        <p:spPr>
          <a:xfrm>
            <a:off x="4846322" y="3339257"/>
            <a:ext cx="3933439" cy="292388"/>
          </a:xfrm>
          <a:prstGeom prst="rect">
            <a:avLst/>
          </a:prstGeom>
          <a:solidFill>
            <a:srgbClr val="C6D3C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To see available colours: </a:t>
            </a:r>
            <a:r>
              <a:rPr lang="en-GB" sz="1300" dirty="0" err="1"/>
              <a:t>colors</a:t>
            </a:r>
            <a:r>
              <a:rPr lang="en-GB" sz="1300" dirty="0"/>
              <a:t>()</a:t>
            </a:r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DBA0CAAE-7A9A-1BBA-2BA9-00032F2D1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377342"/>
            <a:ext cx="216218" cy="216218"/>
          </a:xfrm>
          <a:prstGeom prst="rect">
            <a:avLst/>
          </a:prstGeom>
        </p:spPr>
      </p:pic>
      <p:pic>
        <p:nvPicPr>
          <p:cNvPr id="45" name="Image 0" descr="preencoded.png">
            <a:extLst>
              <a:ext uri="{FF2B5EF4-FFF2-40B4-BE49-F238E27FC236}">
                <a16:creationId xmlns:a16="http://schemas.microsoft.com/office/drawing/2014/main" id="{9B89FDDD-7BC6-3A12-9A08-1BE852D9B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71" y="4214112"/>
            <a:ext cx="216218" cy="216218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2D2ECD24-4B40-26A5-0A2A-1AEE62F8C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86" y="1942710"/>
            <a:ext cx="2757109" cy="2072212"/>
          </a:xfrm>
          <a:prstGeom prst="rect">
            <a:avLst/>
          </a:prstGeom>
        </p:spPr>
      </p:pic>
      <p:sp>
        <p:nvSpPr>
          <p:cNvPr id="49" name="Textfeld 48">
            <a:extLst>
              <a:ext uri="{FF2B5EF4-FFF2-40B4-BE49-F238E27FC236}">
                <a16:creationId xmlns:a16="http://schemas.microsoft.com/office/drawing/2014/main" id="{19C2B25E-87C4-B14C-680C-AB0B036175DA}"/>
              </a:ext>
            </a:extLst>
          </p:cNvPr>
          <p:cNvSpPr txBox="1"/>
          <p:nvPr/>
        </p:nvSpPr>
        <p:spPr>
          <a:xfrm>
            <a:off x="4841747" y="3870960"/>
            <a:ext cx="3933440" cy="692497"/>
          </a:xfrm>
          <a:prstGeom prst="rect">
            <a:avLst/>
          </a:prstGeom>
          <a:solidFill>
            <a:srgbClr val="C6D3C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Check </a:t>
            </a:r>
            <a:r>
              <a:rPr lang="en-GB" sz="1300" dirty="0" err="1"/>
              <a:t>color</a:t>
            </a:r>
            <a:r>
              <a:rPr lang="en-GB" sz="1300" dirty="0"/>
              <a:t> Blindness for manual </a:t>
            </a:r>
            <a:r>
              <a:rPr lang="en-GB" sz="1300" dirty="0" err="1"/>
              <a:t>colors</a:t>
            </a:r>
            <a:r>
              <a:rPr lang="en-GB" sz="1300" dirty="0"/>
              <a:t>:</a:t>
            </a:r>
          </a:p>
          <a:p>
            <a:pPr algn="ctr"/>
            <a:r>
              <a:rPr lang="en-GB" sz="1300" dirty="0" err="1"/>
              <a:t>colorblindcheck</a:t>
            </a:r>
            <a:r>
              <a:rPr lang="en-GB" sz="1300" dirty="0"/>
              <a:t>::</a:t>
            </a:r>
            <a:r>
              <a:rPr lang="en-GB" sz="1300" dirty="0" err="1"/>
              <a:t>palette_plot</a:t>
            </a:r>
            <a:r>
              <a:rPr lang="en-GB" sz="1300" dirty="0"/>
              <a:t>(</a:t>
            </a:r>
            <a:r>
              <a:rPr lang="en-GB" sz="1300" dirty="0" err="1"/>
              <a:t>farben</a:t>
            </a:r>
            <a:r>
              <a:rPr lang="en-GB" sz="1300" dirty="0"/>
              <a:t>, severity = 1, </a:t>
            </a:r>
            <a:r>
              <a:rPr lang="en-GB" sz="1300" dirty="0" err="1"/>
              <a:t>show_hex</a:t>
            </a:r>
            <a:r>
              <a:rPr lang="en-GB" sz="1300" dirty="0"/>
              <a:t> = TRUE)</a:t>
            </a:r>
          </a:p>
        </p:txBody>
      </p:sp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77747E5B-0192-0EDC-0B7E-12390C5C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81729"/>
            <a:ext cx="216218" cy="2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8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0183"/>
            <a:ext cx="4389120" cy="187349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199" y="860184"/>
            <a:ext cx="54865" cy="187349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51624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 installed system fonts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systemfonts::</a:t>
            </a:r>
            <a:r>
              <a:rPr lang="en-US" sz="13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system_fonts</a:t>
            </a: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latin typeface="Consolas" panose="020B0609020204030204" pitchFamily="49" charset="0"/>
              </a:rPr>
              <a:t># to see the first 50 system fonts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3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system_fonts</a:t>
            </a: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n = 50)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31884"/>
            <a:ext cx="43891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031884"/>
            <a:ext cx="54865" cy="164227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font in your plot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axis.title = element_text(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family = "serif",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face = "bold",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 = 15)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1936242"/>
            <a:ext cx="3657600" cy="12278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908810"/>
            <a:ext cx="36576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66360" y="210742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face options: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2567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 |  italic  |  bold  |  bold.italic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 Silhouette Plots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ggimage package to add animal silhouettes to your scatter plot: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332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5720" cy="33242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4983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images and assign to species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&lt;- df %&gt;%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mutate(image = case_when(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Species == "Cattle" ~ "./cattle.svg",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Species == "Sheep"  ~ "./sheep.svg",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Species == "Pig"    ~ "./pig.svg",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TRUE                ~ "./other.svg"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with silhouettes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ggplot(df, aes(x = d13C, y = d15N)) +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geom_image(aes(image = image), size = 0.05) +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theme_bw()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61060" y="1280160"/>
            <a:ext cx="3108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61060" y="1280160"/>
            <a:ext cx="54864" cy="237744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43940" y="141732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dplyr::mutate() adds a new column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case_when() matches species to image files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geom_image() draws the silhouettes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or PNG images both work.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 Plots &amp;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Plots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" cy="21031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886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 PNG (for presentations)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ggsave("my_plot.png",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width = 8, height = 6,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dpi = 300)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 SVG (for publications)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ggsave("my_plot.svg",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width = 8, height = 6)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54864" cy="21031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 CSV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write.csv(df, "results.csv",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row.names = FALSE)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 Excel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library(writexl)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write_xlsx(df, "results.xlsx")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A7BEA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0332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3566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ggsave() saves the last plot you created. Use SVG for publications (vector), PNG for presentations (raster).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1B5F1-32E9-AD54-2C80-C4A02A33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DFE792-9E32-9868-08A4-BB89A674B77D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ggplot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cheat sheet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35ECED-20F4-C86E-2874-2B28A1633B74}"/>
              </a:ext>
            </a:extLst>
          </p:cNvPr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066539-BF08-E50F-859F-98B7D4430E66}"/>
              </a:ext>
            </a:extLst>
          </p:cNvPr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D1D32A0-BDFD-F424-DDAC-08C9160B6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71870"/>
            <a:ext cx="4753537" cy="3654942"/>
          </a:xfrm>
          <a:prstGeom prst="rect">
            <a:avLst/>
          </a:prstGeom>
        </p:spPr>
      </p:pic>
      <p:sp>
        <p:nvSpPr>
          <p:cNvPr id="19" name="Shape 4">
            <a:extLst>
              <a:ext uri="{FF2B5EF4-FFF2-40B4-BE49-F238E27FC236}">
                <a16:creationId xmlns:a16="http://schemas.microsoft.com/office/drawing/2014/main" id="{906E5B9A-6377-3862-8801-94E36CD92F8C}"/>
              </a:ext>
            </a:extLst>
          </p:cNvPr>
          <p:cNvSpPr/>
          <p:nvPr/>
        </p:nvSpPr>
        <p:spPr>
          <a:xfrm>
            <a:off x="5372986" y="871870"/>
            <a:ext cx="3505201" cy="163320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US" sz="1400" b="1" dirty="0"/>
              <a:t>Where to find:</a:t>
            </a:r>
          </a:p>
          <a:p>
            <a:r>
              <a:rPr lang="en-US" sz="1200" dirty="0"/>
              <a:t>In R: </a:t>
            </a:r>
          </a:p>
          <a:p>
            <a:r>
              <a:rPr lang="en-US" sz="1200" dirty="0"/>
              <a:t>  Help &gt; Cheat Sheet &gt; Data visualization with ggplot2</a:t>
            </a:r>
          </a:p>
          <a:p>
            <a:endParaRPr lang="en-US" sz="1200" dirty="0"/>
          </a:p>
          <a:p>
            <a:r>
              <a:rPr lang="en-US" sz="1200" dirty="0"/>
              <a:t>via web search:</a:t>
            </a:r>
          </a:p>
          <a:p>
            <a:r>
              <a:rPr lang="en-US" sz="1200" dirty="0">
                <a:hlinkClick r:id="rId4"/>
              </a:rPr>
              <a:t> https://posit.co/wp-content/uploads/2022/10/data-visualization-1.pdf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59F6FEFB-0D64-5160-9AE9-FBF086760308}"/>
              </a:ext>
            </a:extLst>
          </p:cNvPr>
          <p:cNvSpPr/>
          <p:nvPr/>
        </p:nvSpPr>
        <p:spPr>
          <a:xfrm>
            <a:off x="5372986" y="3038431"/>
            <a:ext cx="3505200" cy="504825"/>
          </a:xfrm>
          <a:prstGeom prst="rect">
            <a:avLst/>
          </a:prstGeom>
          <a:solidFill>
            <a:srgbClr val="C6D3C6"/>
          </a:solidFill>
          <a:ln/>
        </p:spPr>
        <p:txBody>
          <a:bodyPr/>
          <a:lstStyle/>
          <a:p>
            <a:pPr algn="ctr"/>
            <a:r>
              <a:rPr lang="en-US" sz="1200" i="1" dirty="0"/>
              <a:t>     the used data “mpg” is a pre-installed data frame: write mpg in your console to see it</a:t>
            </a: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75B444A9-4406-7C92-0C0F-4BCE3F3E5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986" y="3153684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20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F553-0094-D50E-262C-4DF636C6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4" descr="/tmp/rworkshop_unpacked/ppt/media/image25.png">
            <a:extLst>
              <a:ext uri="{FF2B5EF4-FFF2-40B4-BE49-F238E27FC236}">
                <a16:creationId xmlns:a16="http://schemas.microsoft.com/office/drawing/2014/main" id="{4BAD4DB1-4825-3533-FAC6-24DC0A06C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6" y="787067"/>
            <a:ext cx="7524903" cy="4031338"/>
          </a:xfrm>
          <a:prstGeom prst="rect">
            <a:avLst/>
          </a:prstGeom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B6639F4-46D4-BFA5-7967-BDE558F59A0D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Help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7495AC1-5F32-EE78-5619-B46C196B8699}"/>
              </a:ext>
            </a:extLst>
          </p:cNvPr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DB0D8C-B208-5B62-D558-C598B1C5D883}"/>
              </a:ext>
            </a:extLst>
          </p:cNvPr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053C5811-51F7-AE74-E24F-EB4AD653D13C}"/>
              </a:ext>
            </a:extLst>
          </p:cNvPr>
          <p:cNvSpPr/>
          <p:nvPr/>
        </p:nvSpPr>
        <p:spPr>
          <a:xfrm>
            <a:off x="7711439" y="4544085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Help pane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64782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A8BB9-F70C-474E-2EE4-7B3209B7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DBAAE8-3572-6548-9803-F697B52FEED4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Getting Help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B1F1BA-6797-11C0-856D-AC45A127DCF8}"/>
              </a:ext>
            </a:extLst>
          </p:cNvPr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2D37AB-F0B2-0614-B140-260517F44063}"/>
              </a:ext>
            </a:extLst>
          </p:cNvPr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A0B2B6-87BC-918D-8A24-B58495E57A0F}"/>
              </a:ext>
            </a:extLst>
          </p:cNvPr>
          <p:cNvSpPr/>
          <p:nvPr/>
        </p:nvSpPr>
        <p:spPr>
          <a:xfrm>
            <a:off x="123444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Built-in Help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32C8267-C9C7-C874-D8C4-8F29F12EE8CB}"/>
              </a:ext>
            </a:extLst>
          </p:cNvPr>
          <p:cNvSpPr/>
          <p:nvPr/>
        </p:nvSpPr>
        <p:spPr>
          <a:xfrm>
            <a:off x="1234440" y="1307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Type ?function_name in console (e.g., ?ggplot)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47879B4-9557-21E4-2E45-DAB65E694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445"/>
            <a:ext cx="455758" cy="455758"/>
          </a:xfrm>
          <a:prstGeom prst="rect">
            <a:avLst/>
          </a:prstGeom>
          <a:noFill/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B910C42A-6C5A-6A3C-7068-FF1D0F462FCD}"/>
              </a:ext>
            </a:extLst>
          </p:cNvPr>
          <p:cNvSpPr/>
          <p:nvPr/>
        </p:nvSpPr>
        <p:spPr>
          <a:xfrm>
            <a:off x="12344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ggplot2 Book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52E74FD-CF3C-AD3C-0046-F77035C9BB0D}"/>
              </a:ext>
            </a:extLst>
          </p:cNvPr>
          <p:cNvSpPr/>
          <p:nvPr/>
        </p:nvSpPr>
        <p:spPr>
          <a:xfrm>
            <a:off x="1234440" y="2130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online: https://ggplot2-book.org/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1CB65BA1-5608-9610-9E75-9DCC2F15C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09" y="2738855"/>
            <a:ext cx="465889" cy="465889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4EB0D64D-8A30-9681-141C-E22FAC6D5C2A}"/>
              </a:ext>
            </a:extLst>
          </p:cNvPr>
          <p:cNvSpPr/>
          <p:nvPr/>
        </p:nvSpPr>
        <p:spPr>
          <a:xfrm>
            <a:off x="123444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Cheat Sheets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75B4B1B-801A-B44C-5A57-6758463F50C0}"/>
              </a:ext>
            </a:extLst>
          </p:cNvPr>
          <p:cNvSpPr/>
          <p:nvPr/>
        </p:nvSpPr>
        <p:spPr>
          <a:xfrm>
            <a:off x="1234440" y="2953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https://posit.co/resources/cheatsheets/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202C78B1-4A3C-7D58-4D2C-D46F7452F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" y="3612794"/>
            <a:ext cx="360274" cy="360274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C7A209E2-F823-2E0E-2FD3-3150385DD308}"/>
              </a:ext>
            </a:extLst>
          </p:cNvPr>
          <p:cNvSpPr/>
          <p:nvPr/>
        </p:nvSpPr>
        <p:spPr>
          <a:xfrm>
            <a:off x="123444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Stack Overflow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449B59FE-29E3-7485-8D8D-7ED5257C23BD}"/>
              </a:ext>
            </a:extLst>
          </p:cNvPr>
          <p:cNvSpPr/>
          <p:nvPr/>
        </p:nvSpPr>
        <p:spPr>
          <a:xfrm>
            <a:off x="1234440" y="3776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Search "[r] your question" for community answers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D4ACC14-5939-97DA-D39B-89BA91EA00A4}"/>
              </a:ext>
            </a:extLst>
          </p:cNvPr>
          <p:cNvSpPr/>
          <p:nvPr/>
        </p:nvSpPr>
        <p:spPr>
          <a:xfrm>
            <a:off x="-937261" y="44698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RStudio Help pane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4570512-E864-5B14-1A14-1F3985597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" y="1092708"/>
            <a:ext cx="415977" cy="415977"/>
          </a:xfrm>
          <a:prstGeom prst="rect">
            <a:avLst/>
          </a:prstGeom>
          <a:solidFill>
            <a:srgbClr val="F5F2EB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6287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5B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B8504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&amp; Best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1498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1125626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941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lowercase names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files, folders, and variables — consistent and avoids errors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9222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1902866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719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your code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34440" y="2057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# to explain what each section does — your future self/other researchers will thank you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56946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2680106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496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scripts, not console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23444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in the Source Editor and save as .R files for reproducibility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334670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3457346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273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projects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23444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files together with RStudio Projects — working directory is set automatically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&amp;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Documentation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070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https://ggplot2.tidyverse.org/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914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reference with examples for every function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54864" cy="5943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618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for Data Science (2e)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8928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https://r4ds.hadley.nz/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600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book — the best intro to R and the tidyverse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54864" cy="5943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304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Cheat Sheets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578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https://posit.co/resources/cheatsheets/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286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quick-reference guides for ggplot2, dplyr, and more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54864" cy="5943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2990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 — The R Archive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264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https://cran.r-project.org/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971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install any of R's 20,000+ packages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54864" cy="5943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Workshop's Repository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9502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https://github.com/ellihaehner/N_C_Collagen_graphs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657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data, and slides from today — reference: Makarewicz et al. 2022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5B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Elisabeth Hähner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Feedback? Get in touch!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5B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B8504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&amp; FAQ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FAQ: Common Beginner Questions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41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&lt;- and =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assign values. &lt;- is the R convention and preferred. = also works but can be ambiguous in function arguments.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I get "object not found"?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doesn't exist yet. Check spelling (R is case-sensitive!) and make sure you ran the line that creates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877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undo something?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in the Source Editor. In the console, there's no undo — but you can re-run your script from the top.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107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frame?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data with rows and columns — like an Excel spreadsheet. Each column can hold numbers, text, or other types.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FAQ: Data &amp; Plotting Questions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41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plot is empty — why?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Did you add a geom layer (e.g., geom_point())? Is your data loaded? Do column names match exactly?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change point sizes?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size = 3 inside geom_point(). For mapping size to a variable, put it inside aes(): aes(size = variable).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877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use my own colors?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Use scale_color_manual(values = c("red", "blue")) or hex codes like "#B85042".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107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add a title?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+ labs(title = "My Title") to your ggplot. Also works: subtitle, x, y, caption.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Troubleshooting: Installation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41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"Rscript not found"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not in your system PATH. Reinstall R and check "Add to PATH" during installation.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"there is no package called X"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isn't installed. Run install.packages("X"). Check spelling — package names are case-sensitive.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877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install fails on Mac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need Xcode command line tools. Run xcode-select --install in Terminal.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107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install fails on Windows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running RStudio as Administrator. Check your internet connection. Some packages need Rtools.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Troubleshooting: Data &amp; 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418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CSV files found"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working directory with getwd(). Make sure the CSV is in the right folder, or use file.choose().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"could not convert to numeric"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column has text mixed with numbers. Check for typos, extra spaces, or comma decimals.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877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"unexpected symbol" or "unexpected )"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comma, quote, or parenthesis. Check the line above the error — that's often where the real problem 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107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"missing required columns"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in your code don't match the CSV. Use names(df) to see actual column names. Watch for spaces and case.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Glossary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container for data: x &lt;- 42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command: mean(), read.csv(), ggplot()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add-on library: install once, load each session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423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rows and columns (like a spreadsheet)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2926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values of the same type: c(1, 2, 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passed to a function: read.csv(file, sep=";")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command line in RStudio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file of R commands (.R file)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423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R uses to read/write files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926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Comprehensive R Archive Network — where packages live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67830-D338-7C02-E026-DB9A263E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6A4E83-8B43-DE66-B177-726212CADA7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</a:rPr>
              <a:t>sources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5FAC7E3-CBDD-A72C-0A90-7E929C36EC30}"/>
              </a:ext>
            </a:extLst>
          </p:cNvPr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241610-47EB-E5BD-6E18-4BC54438B046}"/>
              </a:ext>
            </a:extLst>
          </p:cNvPr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 Hähner  |  Introduction to R  |  10.03.2026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52C289D-0B24-34AD-EC85-14710CF29A9C}"/>
              </a:ext>
            </a:extLst>
          </p:cNvPr>
          <p:cNvSpPr txBox="1"/>
          <p:nvPr/>
        </p:nvSpPr>
        <p:spPr>
          <a:xfrm>
            <a:off x="385408" y="959742"/>
            <a:ext cx="84185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Kühne, M. </a:t>
            </a:r>
            <a:r>
              <a:rPr lang="en-GB" dirty="0" err="1"/>
              <a:t>Einführung</a:t>
            </a:r>
            <a:r>
              <a:rPr lang="en-GB" dirty="0"/>
              <a:t> in R, Dresden. </a:t>
            </a:r>
            <a:r>
              <a:rPr lang="en-GB" dirty="0">
                <a:hlinkClick r:id="rId3"/>
              </a:rPr>
              <a:t>https://tu-dresden.de/gsw/phil/iso/mes/ressourcen/dateien/prof/lehre/freieS/Dateien/Einfuehrung_R.pdf?lang=de</a:t>
            </a:r>
            <a:r>
              <a:rPr lang="en-GB" dirty="0"/>
              <a:t> 03/09/2026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Baxter, M., &amp; Cool, H. (2016). Basic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graphics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archaeology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R: Life </a:t>
            </a:r>
            <a:r>
              <a:rPr lang="de-DE" dirty="0" err="1"/>
              <a:t>beyond</a:t>
            </a:r>
            <a:r>
              <a:rPr lang="de-DE" dirty="0"/>
              <a:t> </a:t>
            </a:r>
            <a:r>
              <a:rPr lang="de-DE" dirty="0" err="1"/>
              <a:t>Excel.Barbican</a:t>
            </a:r>
            <a:r>
              <a:rPr lang="de-DE" dirty="0"/>
              <a:t> Research Associates,  Nottingham. </a:t>
            </a:r>
            <a:r>
              <a:rPr lang="de-DE" dirty="0">
                <a:hlinkClick r:id="rId4"/>
              </a:rPr>
              <a:t>http://www.barbicanra.co.uk/assets/basic-statisti-cal-graphics.pdf</a:t>
            </a:r>
            <a:r>
              <a:rPr lang="de-DE" dirty="0"/>
              <a:t> last </a:t>
            </a:r>
            <a:r>
              <a:rPr lang="de-DE" dirty="0" err="1"/>
              <a:t>accessed</a:t>
            </a:r>
            <a:r>
              <a:rPr lang="de-DE" dirty="0"/>
              <a:t> 03/09/2026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5"/>
              </a:rPr>
              <a:t>https://www.produnis.de/R/statistik-mit-R.html </a:t>
            </a:r>
            <a:r>
              <a:rPr lang="en-GB" dirty="0"/>
              <a:t>  03/09/2026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6"/>
              </a:rPr>
              <a:t>https://bsc-biodiv-der-pflanzen-zizka-df3996514e4d00205673a00a6d55070dc.pages.uni-marburg.de/book/05_einf%C3%BChrung_in_R.html</a:t>
            </a:r>
            <a:r>
              <a:rPr lang="en-GB" dirty="0"/>
              <a:t>   03/09/2026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7"/>
              </a:rPr>
              <a:t>https://cran.r-project.org/web/packages/colorblindcheck/vignettes/intro-to-colorblindcheck.html</a:t>
            </a:r>
            <a:r>
              <a:rPr lang="en-GB" dirty="0"/>
              <a:t> 03/09/2026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3827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4958</Words>
  <Application>Microsoft Office PowerPoint</Application>
  <PresentationFormat>Bildschirmpräsentation (16:9)</PresentationFormat>
  <Paragraphs>556</Paragraphs>
  <Slides>41</Slides>
  <Notes>41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41</vt:i4>
      </vt:variant>
    </vt:vector>
  </HeadingPairs>
  <TitlesOfParts>
    <vt:vector size="47" baseType="lpstr">
      <vt:lpstr>Aptos</vt:lpstr>
      <vt:lpstr>Arial</vt:lpstr>
      <vt:lpstr>Calibri</vt:lpstr>
      <vt:lpstr>Consolas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for Archaeologists</dc:title>
  <dc:subject>PptxGenJS Presentation</dc:subject>
  <dc:creator>E. Hähner</dc:creator>
  <cp:lastModifiedBy>Katrin Hähner</cp:lastModifiedBy>
  <cp:revision>29</cp:revision>
  <dcterms:created xsi:type="dcterms:W3CDTF">2026-03-07T20:08:21Z</dcterms:created>
  <dcterms:modified xsi:type="dcterms:W3CDTF">2026-03-09T20:13:57Z</dcterms:modified>
</cp:coreProperties>
</file>